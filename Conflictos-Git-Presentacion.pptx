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703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idea central: un conflicto no es un fallo del código, es una decisión que Git no puede tomar solo. En esta sesión veremos cómo detectarlo, entenderlo, resolverlo y comprobarlo.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diferencia entre un error y un conflicto: Git sí detectó el solapamiento; lo que no puede es decidir la intención. Las tres condiciones: dos historias, misma región, decisión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marcador de arriba a abajo. HEAD es ours; la etiqueta de la rama es theirs. La base solo aparece con diff3/zdiff3. Insistir: no se elige una línea sin entender las 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el mapa como columna vertebral de la presentación. Cada ejercicio vuelve a estos seis nodos; la diferencia está en el comando que dispara el conflicto.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memorizar siglas sin contexto: cada estado cuenta una historia. UU: ambos modificaron. AA: ambos crearon. UD/DU: una rama borró. DD: ambos borraron. El estado decide qué comandos tienen sentido.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flujo como una checklist mental. El paso 2 es el que más se salta y el que más errores causa. Verificar no es opcional: git diff --check detecta marcadores olvidados.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mapa completo antes de entrar en detalle. Los ejercicios 1-5 son de merge; 6-8 son operaciones que reescriben o aplican commits; 9-10 son diagnóstico y automatización.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que más importa. En merge, ours=mi rama; en rebase, ours=base. Por eso hay que mirar :2: y :3: y no fiarse de la etiqueta.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conflicto más pequeño posible. La decisión aquí es conservar ambas líneas; en otros casos será elegir una. Lo importante es que el resultado sea intencional y verificado.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Agrupar estos tres casos porque obligan a decidir sobre la existencia o la forma del archivo, no solo sobre una línea. En UD se probaron conservar y eliminar; en AA se unificó el changelog.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perder tiempo intentando editar un binario como texto. Se elige ours o theirs; si se necesitan ambos, se renombra uno antes del merge. La validación comprueba el contenido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Dibujar la diferencia: antes hay bifurcación; después hay línea. El conflicto se resuelve una vez por commit reaplicado. Recordar la inversión de ours/theirs.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Cherry-pick no fusiona ramas: copia un cambio. Por eso el conflicto es local a ese parche. Se resuelve, se marca y se continúa con --continue.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stash no es una copia de seguridad eterna. Si pop conflictúa, se conserva; hay que resolver, marcar y hacer drop explícitamente. Validar que la lista quede vacía.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las tres etapas como capas de una historia. La base es la pieza que suele faltar. git log --merge y git diff --base dan contexto; mergetool automatiza la edición, no la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presentar estas estrategias como magia. -X ours fusiona; -s ours ignora; union concatena; ours oculta. La diferencia entre -X y -s es la que más se confunde.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rerere es útil en ramas longevas y merges repetidos. Los drivers son reglas por archivo; pueden evitar conflictos, pero también ocultar cambios. La validación comprueba el contenido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la parte conceptual con el mapa. Los ejercicios son instancias de este sistema; la estrategia se elige después de diagnosticar, no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repositorio como evidencia reproducible. Los números no son una promesa: están en los logs y en las capturas. Cualquiera puede ejecutar run-all.sh y obtener el mismo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Terminar con la checklist y la evidencia. La idea que debe quedar: un conflicto se resuelve con método, no con memoria. El repositorio permite repetir cada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75749748-blip/conflictos-git-ejercicio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75749748-blip/conflictos-git-ejercicio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3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· CONFLICTOS DE CÓDIGO</a:t>
            </a:r>
            <a:endParaRPr lang="en-US" sz="1000" dirty="0"/>
          </a:p>
        </p:txBody>
      </p:sp>
      <p:sp>
        <p:nvSpPr>
          <p:cNvPr id="6" name="a01_title"/>
          <p:cNvSpPr/>
          <p:nvPr/>
        </p:nvSpPr>
        <p:spPr>
          <a:xfrm>
            <a:off x="777240" y="118872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Conflictos</a:t>
            </a:r>
            <a:endParaRPr lang="en-US" sz="4200" dirty="0"/>
          </a:p>
          <a:p>
            <a:pPr marL="0" indent="0" algn="l">
              <a:lnSpc>
                <a:spcPct val="930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código</a:t>
            </a:r>
            <a:endParaRPr lang="en-US" sz="4200" dirty="0"/>
          </a:p>
        </p:txBody>
      </p:sp>
      <p:sp>
        <p:nvSpPr>
          <p:cNvPr id="7" name="a01_lead"/>
          <p:cNvSpPr/>
          <p:nvPr/>
        </p:nvSpPr>
        <p:spPr>
          <a:xfrm>
            <a:off x="822960" y="2971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Detectar · entender · resolver · verificar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visual y práctica para salir de un merge, rebase, cherry-pick o stash sin perder cambios.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0D2A33">
              <a:alpha val="80000"/>
            </a:srgbClr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822960" y="44759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EJERCICIOS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443484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0D2A33">
              <a:alpha val="80000"/>
            </a:srgbClr>
          </a:solidFill>
          <a:ln w="1143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2468880" y="44759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 PASS · 0 FAIL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0" y="443484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D2A33">
              <a:alpha val="80000"/>
            </a:srgbClr>
          </a:solidFill>
          <a:ln w="1143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4114800" y="44759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2.56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Ivan · Octubre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github.com/75749748-blip/conflictos-git-ejercicios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52360" y="1051560"/>
            <a:ext cx="4069080" cy="3063240"/>
          </a:xfrm>
          <a:prstGeom prst="roundRect">
            <a:avLst>
              <a:gd name="adj" fmla="val 2090"/>
            </a:avLst>
          </a:prstGeom>
          <a:solidFill>
            <a:srgbClr val="080E1A"/>
          </a:solidFill>
          <a:ln w="11430">
            <a:solidFill>
              <a:srgbClr val="1E2B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7525512" y="1143000"/>
            <a:ext cx="3922776" cy="1645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7598664" y="1193292"/>
            <a:ext cx="64008" cy="6400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7708392" y="119329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818120" y="1193292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7955280" y="116128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evidencia real de la práctica</a:t>
            </a:r>
            <a:endParaRPr lang="en-US" sz="750" dirty="0"/>
          </a:p>
        </p:txBody>
      </p:sp>
      <p:sp>
        <p:nvSpPr>
          <p:cNvPr id="23" name="a01_code"/>
          <p:cNvSpPr/>
          <p:nvPr/>
        </p:nvSpPr>
        <p:spPr>
          <a:xfrm>
            <a:off x="7598664" y="1399032"/>
            <a:ext cx="377647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feature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Auto-merging app.txt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(content):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conflict in app.txt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 --short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 app.txt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app.txt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"merge: ..."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árbol limpio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 5 PASS, 0 FAIL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2360" y="4315968"/>
            <a:ext cx="4069080" cy="932688"/>
          </a:xfrm>
          <a:prstGeom prst="roundRect">
            <a:avLst>
              <a:gd name="adj" fmla="val 7843"/>
            </a:avLst>
          </a:prstGeom>
          <a:solidFill>
            <a:srgbClr val="0D2A33">
              <a:alpha val="92000"/>
            </a:srgbClr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7635240" y="4443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16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20 DIAPOSITIVAS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635240" y="46634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 · resolución · verificación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635240" y="495604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ejercicios reales, no solo teoría.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52360" y="5559552"/>
            <a:ext cx="4069080" cy="2743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7452360" y="5669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conflicto no se adivina: se diagnostica.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Portada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23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EL PROBLEMA</a:t>
            </a:r>
            <a:endParaRPr lang="en-US" sz="900" dirty="0"/>
          </a:p>
        </p:txBody>
      </p:sp>
      <p:sp>
        <p:nvSpPr>
          <p:cNvPr id="6" name="a02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conflicto no es un error</a:t>
            </a:r>
            <a:endParaRPr lang="en-US" sz="2900" dirty="0"/>
          </a:p>
        </p:txBody>
      </p:sp>
      <p:sp>
        <p:nvSpPr>
          <p:cNvPr id="7" name="a02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una decisión que Git no puede tomar por ti.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50292" cy="1920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a02_c1"/>
          <p:cNvSpPr/>
          <p:nvPr/>
        </p:nvSpPr>
        <p:spPr>
          <a:xfrm>
            <a:off x="777240" y="19659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historias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340864"/>
            <a:ext cx="3172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ramas cambiaron el mismo archivo desde una base común.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34256" y="18288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4334256" y="1828800"/>
            <a:ext cx="50292" cy="19202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a02_c2"/>
          <p:cNvSpPr/>
          <p:nvPr/>
        </p:nvSpPr>
        <p:spPr>
          <a:xfrm>
            <a:off x="4517136" y="19659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Misma región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17136" y="2340864"/>
            <a:ext cx="3172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cambios se solapan y Git no sabe cuál conservar o cómo combinarlos.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74152" y="18288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8074152" y="1828800"/>
            <a:ext cx="50292" cy="1920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a02_c3"/>
          <p:cNvSpPr/>
          <p:nvPr/>
        </p:nvSpPr>
        <p:spPr>
          <a:xfrm>
            <a:off x="8257032" y="19659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Decisión humana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57032" y="2340864"/>
            <a:ext cx="3172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persona lee el contexto, elige el resultado y lo valida.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4526280"/>
            <a:ext cx="411480" cy="411480"/>
          </a:xfrm>
          <a:prstGeom prst="ellipse">
            <a:avLst/>
          </a:prstGeom>
          <a:solidFill>
            <a:srgbClr val="111C2E"/>
          </a:solidFill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786384" y="46177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234440" y="4160520"/>
            <a:ext cx="1417320" cy="566928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1234440" y="4727448"/>
            <a:ext cx="1417320" cy="566928"/>
          </a:xfrm>
          <a:prstGeom prst="line">
            <a:avLst/>
          </a:prstGeom>
          <a:noFill/>
          <a:ln w="19050">
            <a:solidFill>
              <a:srgbClr val="FB718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2651760" y="40142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5212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77640" y="42976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3202F"/>
          </a:solidFill>
          <a:ln w="1143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397764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77640" y="4773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se detiene y marca el archivo.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0" y="45902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conflicto: Git combina automáticamente.</a:t>
            </a:r>
            <a:endParaRPr lang="en-US" sz="115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conflicto: Git pide una decisión.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10" grpId="0" build="p" animBg="1"/>
      <p:bldP spid="14" grpId="0" build="p" animBg="1"/>
      <p:bldP spid="18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ANATOMÍA</a:t>
            </a:r>
            <a:endParaRPr lang="en-US" sz="900" dirty="0"/>
          </a:p>
        </p:txBody>
      </p:sp>
      <p:sp>
        <p:nvSpPr>
          <p:cNvPr id="6" name="a03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los marcadores</a:t>
            </a:r>
            <a:endParaRPr lang="en-US" sz="2900" dirty="0"/>
          </a:p>
        </p:txBody>
      </p:sp>
      <p:sp>
        <p:nvSpPr>
          <p:cNvPr id="7" name="a03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archivo te muestra las tres versiones. No borres a ciegas.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6675120" cy="2971800"/>
          </a:xfrm>
          <a:prstGeom prst="roundRect">
            <a:avLst>
              <a:gd name="adj" fmla="val 2154"/>
            </a:avLst>
          </a:prstGeom>
          <a:solidFill>
            <a:srgbClr val="080E1A"/>
          </a:solidFill>
          <a:ln w="11430">
            <a:solidFill>
              <a:srgbClr val="1E2B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667512" y="1874520"/>
            <a:ext cx="6528816" cy="1645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740664" y="1924812"/>
            <a:ext cx="64008" cy="6400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50392" y="192481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960120" y="1924812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097280" y="189280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diff3 / zdiff3</a:t>
            </a:r>
            <a:endParaRPr lang="en-US" sz="750" dirty="0"/>
          </a:p>
        </p:txBody>
      </p:sp>
      <p:sp>
        <p:nvSpPr>
          <p:cNvPr id="14" name="a03_code"/>
          <p:cNvSpPr/>
          <p:nvPr/>
        </p:nvSpPr>
        <p:spPr>
          <a:xfrm>
            <a:off x="740664" y="2130552"/>
            <a:ext cx="6382512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 1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 2 (main)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||||||| base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 2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 2 (feature)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919472"/>
            <a:ext cx="6675120" cy="658368"/>
          </a:xfrm>
          <a:prstGeom prst="roundRect">
            <a:avLst>
              <a:gd name="adj" fmla="val 11111"/>
            </a:avLst>
          </a:prstGeom>
          <a:solidFill>
            <a:srgbClr val="0D2A33">
              <a:alpha val="90000"/>
            </a:srgbClr>
          </a:solidFill>
          <a:ln w="1143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86384" y="50749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diff3 añade la base; zdiff3 la colapsa cuando coincide.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35240" y="1828800"/>
            <a:ext cx="3931920" cy="676656"/>
          </a:xfrm>
          <a:prstGeom prst="roundRect">
            <a:avLst>
              <a:gd name="adj" fmla="val 10811"/>
            </a:avLst>
          </a:prstGeom>
          <a:solidFill>
            <a:srgbClr val="111C2E"/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7790688" y="193852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90688" y="217627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ours: tu rama actual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35240" y="2670048"/>
            <a:ext cx="3931920" cy="676656"/>
          </a:xfrm>
          <a:prstGeom prst="roundRect">
            <a:avLst>
              <a:gd name="adj" fmla="val 10811"/>
            </a:avLst>
          </a:prstGeom>
          <a:solidFill>
            <a:srgbClr val="111C2E"/>
          </a:solidFill>
          <a:ln w="1143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7790688" y="277977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||||||| base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90688" y="30175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común (diff3)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35240" y="3511296"/>
            <a:ext cx="3931920" cy="676656"/>
          </a:xfrm>
          <a:prstGeom prst="roundRect">
            <a:avLst>
              <a:gd name="adj" fmla="val 10811"/>
            </a:avLst>
          </a:prstGeom>
          <a:solidFill>
            <a:srgbClr val="111C2E"/>
          </a:solidFill>
          <a:ln w="1143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7790688" y="362102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90688" y="38587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separador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35240" y="4352544"/>
            <a:ext cx="3931920" cy="676656"/>
          </a:xfrm>
          <a:prstGeom prst="roundRect">
            <a:avLst>
              <a:gd name="adj" fmla="val 10811"/>
            </a:avLst>
          </a:prstGeom>
          <a:solidFill>
            <a:srgbClr val="111C2E"/>
          </a:solidFill>
          <a:ln w="1143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7790688" y="44622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90688" y="470001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theirs: la otra rama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4360" y="57607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merge.conflictStyle=zdiff3 también ves la base, y entiendes qué cambió cada lado.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Anatomía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14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MAPA MENTAL</a:t>
            </a:r>
            <a:endParaRPr lang="en-US" sz="900" dirty="0"/>
          </a:p>
        </p:txBody>
      </p:sp>
      <p:sp>
        <p:nvSpPr>
          <p:cNvPr id="6" name="a04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conflicto a la verificación</a:t>
            </a:r>
            <a:endParaRPr lang="en-US" sz="2900" dirty="0"/>
          </a:p>
        </p:txBody>
      </p:sp>
      <p:sp>
        <p:nvSpPr>
          <p:cNvPr id="7" name="a04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Seis nodos para no perder el hilo.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11201400" cy="4572000"/>
          </a:xfrm>
          <a:prstGeom prst="roundRect">
            <a:avLst>
              <a:gd name="adj" fmla="val 1200"/>
            </a:avLst>
          </a:prstGeom>
          <a:solidFill>
            <a:srgbClr val="0A1220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a04_map" descr="C:\Users\gambo\Documents\Git-Conflictos\build\mapa-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595" y="1783080"/>
            <a:ext cx="7922907" cy="4251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630936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Detectar → entender → resolver → marcar → confirmar → verificar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mental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DIAGNÓSTICO</a:t>
            </a:r>
            <a:endParaRPr lang="en-US" sz="900" dirty="0"/>
          </a:p>
        </p:txBody>
      </p:sp>
      <p:sp>
        <p:nvSpPr>
          <p:cNvPr id="6" name="a05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estados que debes reconocer</a:t>
            </a:r>
            <a:endParaRPr lang="en-US" sz="2900" dirty="0"/>
          </a:p>
        </p:txBody>
      </p:sp>
      <p:sp>
        <p:nvSpPr>
          <p:cNvPr id="7" name="a05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status --short es tu primer diagnóstico.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11C2E"/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795528" y="202996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645920" y="20482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modificado por ambos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en conflicto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81635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--short  →  UU archivo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11C2E"/>
          </a:solidFill>
          <a:ln w="1143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64808" y="202996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315200" y="20482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añadido por ambos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2377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archivos nuevos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81635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--short  →  AA archivo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7033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11C2E"/>
          </a:solidFill>
          <a:ln w="1143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795528" y="39044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 / DU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1645920" y="3922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modificado / eliminado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4251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rama borró el archivo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46908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--short  →  UD / DU archivo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63640" y="37033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11C2E"/>
          </a:solidFill>
          <a:ln w="1143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6464808" y="39044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315200" y="3922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eliminado por ambos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4251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Ambos lo borraron distinto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46908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--short  →  DD archivo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UU es el más común. AA aparece cuando ambos crean el mismo archivo. UD/DU y DD requieren una decisión de producto.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MÉTODO</a:t>
            </a:r>
            <a:endParaRPr lang="en-US" sz="900" dirty="0"/>
          </a:p>
        </p:txBody>
      </p:sp>
      <p:sp>
        <p:nvSpPr>
          <p:cNvPr id="6" name="a06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en cinco pasos</a:t>
            </a:r>
            <a:endParaRPr lang="en-US" sz="2900" dirty="0"/>
          </a:p>
        </p:txBody>
      </p:sp>
      <p:sp>
        <p:nvSpPr>
          <p:cNvPr id="7" name="a06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Primero entender; después elegir; al final verificar.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828800"/>
            <a:ext cx="502920" cy="5029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530352" y="1938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2075688" cy="1234440"/>
          </a:xfrm>
          <a:prstGeom prst="roundRect">
            <a:avLst>
              <a:gd name="adj" fmla="val 5185"/>
            </a:avLst>
          </a:prstGeom>
          <a:solidFill>
            <a:srgbClr val="111C2E"/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 app.txt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6040" y="2075688"/>
            <a:ext cx="20116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2843784" y="1828800"/>
            <a:ext cx="502920" cy="50292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2843784" y="1938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43784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16352" y="2852928"/>
            <a:ext cx="2075688" cy="1234440"/>
          </a:xfrm>
          <a:prstGeom prst="roundRect">
            <a:avLst>
              <a:gd name="adj" fmla="val 5185"/>
            </a:avLst>
          </a:prstGeom>
          <a:solidFill>
            <a:srgbClr val="111C2E"/>
          </a:solidFill>
          <a:ln w="1143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2953512" y="30175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show :1: :2: :3: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19472" y="2075688"/>
            <a:ext cx="20116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5157216" y="182880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5157216" y="1938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57216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29784" y="2852928"/>
            <a:ext cx="2075688" cy="1234440"/>
          </a:xfrm>
          <a:prstGeom prst="roundRect">
            <a:avLst>
              <a:gd name="adj" fmla="val 5185"/>
            </a:avLst>
          </a:prstGeom>
          <a:solidFill>
            <a:srgbClr val="111C2E"/>
          </a:solidFill>
          <a:ln w="1143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5266944" y="30175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Abrir el archivo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combinar la intención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32904" y="2075688"/>
            <a:ext cx="20116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7470648" y="1828800"/>
            <a:ext cx="502920" cy="5029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7470648" y="1938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70648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43216" y="2852928"/>
            <a:ext cx="2075688" cy="1234440"/>
          </a:xfrm>
          <a:prstGeom prst="roundRect">
            <a:avLst>
              <a:gd name="adj" fmla="val 5185"/>
            </a:avLst>
          </a:prstGeom>
          <a:solidFill>
            <a:srgbClr val="111C2E"/>
          </a:solidFill>
          <a:ln w="1143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7580376" y="30175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app.txt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546336" y="2075688"/>
            <a:ext cx="20116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32" name="Shape 30"/>
          <p:cNvSpPr/>
          <p:nvPr/>
        </p:nvSpPr>
        <p:spPr>
          <a:xfrm>
            <a:off x="9784080" y="182880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9784080" y="1938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84080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756648" y="2852928"/>
            <a:ext cx="2075688" cy="1234440"/>
          </a:xfrm>
          <a:prstGeom prst="roundRect">
            <a:avLst>
              <a:gd name="adj" fmla="val 5185"/>
            </a:avLst>
          </a:prstGeom>
          <a:solidFill>
            <a:srgbClr val="111C2E"/>
          </a:solidFill>
          <a:ln w="1143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9893808" y="30175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--check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" y="45720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0D2A33">
              <a:alpha val="90000"/>
            </a:srgbClr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822960" y="47274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de oro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31720" y="4709160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resuelvas un conflicto que no entiendes. Si el diff no tiene sentido, vuelve a la base y reconstruye las tres versiones.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PRÁCTICAS</a:t>
            </a:r>
            <a:endParaRPr lang="en-US" sz="900" dirty="0"/>
          </a:p>
        </p:txBody>
      </p:sp>
      <p:sp>
        <p:nvSpPr>
          <p:cNvPr id="6" name="a07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10 ejercicios</a:t>
            </a:r>
            <a:endParaRPr lang="en-US" sz="2900" dirty="0"/>
          </a:p>
        </p:txBody>
      </p:sp>
      <p:sp>
        <p:nvSpPr>
          <p:cNvPr id="7" name="a07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ejecutados y verificados: 57 PASS · 0 FAIL.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740664" y="19751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52728" y="1993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Conflicto simple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9933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PASS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624328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740664" y="2770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52728" y="2788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Varios hunks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419856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740664" y="3566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52728" y="3584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Modificar/eliminar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5844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PASS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215384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740664" y="43616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52728" y="43799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Añadir/añadir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37997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PASS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5010912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740664" y="51572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52728" y="5175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517550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PASS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82880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6364224" y="19751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76288" y="1993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378440" y="19933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PASS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2624328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6364224" y="2770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76288" y="2788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Cherry-pick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378440" y="27889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PASS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3419856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6364224" y="3566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76288" y="3584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Stash pop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378440" y="35844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PASS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4215384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6364224" y="43616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76288" y="43799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Inspección + mergetool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378440" y="437997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PASS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5010912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5" name="Text 43"/>
          <p:cNvSpPr/>
          <p:nvPr/>
        </p:nvSpPr>
        <p:spPr>
          <a:xfrm>
            <a:off x="6364224" y="51572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76288" y="5175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Estrategias + rerere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378440" y="517550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PASS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práctica tiene script, log y captura. El repositorio permite repetirlas desde cero.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0" name="Text 48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LA TRAMPA</a:t>
            </a:r>
            <a:endParaRPr lang="en-US" sz="900" dirty="0"/>
          </a:p>
        </p:txBody>
      </p:sp>
      <p:sp>
        <p:nvSpPr>
          <p:cNvPr id="6" name="a08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y theirs no son lo que parecen</a:t>
            </a:r>
            <a:endParaRPr lang="en-US" sz="2900" dirty="0"/>
          </a:p>
        </p:txBody>
      </p:sp>
      <p:sp>
        <p:nvSpPr>
          <p:cNvPr id="7" name="a08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 merge, ours eres tú. En un rebase, ours es la base.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50292" cy="20116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a08_merge"/>
          <p:cNvSpPr/>
          <p:nvPr/>
        </p:nvSpPr>
        <p:spPr>
          <a:xfrm>
            <a:off x="777240" y="1965960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340864"/>
            <a:ext cx="5093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= tu rama actual (HEAD)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 = la rama que integras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:2: = ours   ·   :3: = theirs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0292" cy="20116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a08_rebase"/>
          <p:cNvSpPr/>
          <p:nvPr/>
        </p:nvSpPr>
        <p:spPr>
          <a:xfrm>
            <a:off x="6446520" y="1965960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REBASE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46520" y="2340864"/>
            <a:ext cx="5093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= la rama base (upstream)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 = tu commit que se reaplica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:2: = base   ·   :3: = tu commit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20624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2A1724"/>
          </a:solidFill>
          <a:ln w="1143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22960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Trampa frecuente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4361688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usas --ours en un rebase, conservas la base y puedes perder el cambio que estabas reaplicando. No es “mi versión”: es la versión de la base.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5486400"/>
            <a:ext cx="11109960" cy="685800"/>
          </a:xfrm>
          <a:prstGeom prst="roundRect">
            <a:avLst>
              <a:gd name="adj" fmla="val 9333"/>
            </a:avLst>
          </a:prstGeom>
          <a:solidFill>
            <a:srgbClr val="080E1A"/>
          </a:solidFill>
          <a:ln w="11430">
            <a:solidFill>
              <a:srgbClr val="1E2B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667512" y="5577840"/>
            <a:ext cx="10963656" cy="1645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40664" y="5628132"/>
            <a:ext cx="64008" cy="6400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850392" y="562813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960120" y="5628132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1097280" y="5596128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forma segura de comprobarlo</a:t>
            </a:r>
            <a:endParaRPr lang="en-US" sz="750" dirty="0"/>
          </a:p>
        </p:txBody>
      </p:sp>
      <p:sp>
        <p:nvSpPr>
          <p:cNvPr id="25" name="a08_code"/>
          <p:cNvSpPr/>
          <p:nvPr/>
        </p:nvSpPr>
        <p:spPr>
          <a:xfrm>
            <a:off x="740664" y="5833872"/>
            <a:ext cx="10817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show :2:archivo   # ours   ·   git show :3:archivo   # theirs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trampa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10" grpId="0" build="p" animBg="1"/>
      <p:bldP spid="14" grpId="0" build="p" animBg="1"/>
      <p:bldP spid="2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PRÁCTICA 1</a:t>
            </a:r>
            <a:endParaRPr lang="en-US" sz="900" dirty="0"/>
          </a:p>
        </p:txBody>
      </p:sp>
      <p:sp>
        <p:nvSpPr>
          <p:cNvPr id="6" name="a09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Conflicto simple en una línea</a:t>
            </a:r>
            <a:endParaRPr lang="en-US" sz="2900" dirty="0"/>
          </a:p>
        </p:txBody>
      </p:sp>
      <p:sp>
        <p:nvSpPr>
          <p:cNvPr id="7" name="a09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caso base: mismo archivo, misma línea, dos intenciones.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5074920" cy="2606040"/>
          </a:xfrm>
          <a:prstGeom prst="roundRect">
            <a:avLst>
              <a:gd name="adj" fmla="val 2456"/>
            </a:avLst>
          </a:prstGeom>
          <a:solidFill>
            <a:srgbClr val="080E1A"/>
          </a:solidFill>
          <a:ln w="11430">
            <a:solidFill>
              <a:srgbClr val="1E2B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667512" y="1874520"/>
            <a:ext cx="4928616" cy="1645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740664" y="1924812"/>
            <a:ext cx="64008" cy="6400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50392" y="192481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960120" y="1924812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097280" y="1892808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Detección real</a:t>
            </a:r>
            <a:endParaRPr lang="en-US" sz="750" dirty="0"/>
          </a:p>
        </p:txBody>
      </p:sp>
      <p:sp>
        <p:nvSpPr>
          <p:cNvPr id="14" name="a09_code"/>
          <p:cNvSpPr/>
          <p:nvPr/>
        </p:nvSpPr>
        <p:spPr>
          <a:xfrm>
            <a:off x="740664" y="2130552"/>
            <a:ext cx="478231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feature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(content):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conflict in app.txt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 --short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 app.txt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app.txt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 2 (main)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 2 (feature)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989320" y="1837944"/>
            <a:ext cx="347472" cy="3474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5989320" y="1892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182880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app.txt y leer los dos lados.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2551176"/>
            <a:ext cx="347472" cy="3474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5989320" y="260604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5420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la versión final (aquí, ambas).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3264408"/>
            <a:ext cx="347472" cy="3474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5989320" y="33192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32552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add app.txt y commit.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3977640"/>
            <a:ext cx="347472" cy="3474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5989320" y="40325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396849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 con git diff --check y git 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48463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D2A33">
              <a:alpha val="80000"/>
            </a:srgbClr>
          </a:solidFill>
          <a:ln w="1143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5989320" y="488746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PASS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86600" y="484632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D2A33">
              <a:alpha val="80000"/>
            </a:srgbClr>
          </a:solidFill>
          <a:ln w="1143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7086600" y="48874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FAIL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89320" y="52578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real · la captura completa está en la documentación PDF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4360" y="5742432"/>
            <a:ext cx="10287000" cy="530352"/>
          </a:xfrm>
          <a:prstGeom prst="roundRect">
            <a:avLst>
              <a:gd name="adj" fmla="val 13793"/>
            </a:avLst>
          </a:prstGeom>
          <a:solidFill>
            <a:srgbClr val="0D2A33">
              <a:alpha val="90000"/>
            </a:srgbClr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822960" y="58795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Lección: conservar ambas líneas es una decisión intencional, no un empate.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972800" y="1783080"/>
            <a:ext cx="685800" cy="2606040"/>
          </a:xfrm>
          <a:prstGeom prst="roundRect">
            <a:avLst>
              <a:gd name="adj" fmla="val 8000"/>
            </a:avLst>
          </a:prstGeom>
          <a:solidFill>
            <a:srgbClr val="0A1220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11045952" y="1938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991088" y="24231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 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14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PRÁCTICAS 2, 3 Y 4</a:t>
            </a:r>
            <a:endParaRPr lang="en-US" sz="900" dirty="0"/>
          </a:p>
        </p:txBody>
      </p:sp>
      <p:sp>
        <p:nvSpPr>
          <p:cNvPr id="6" name="a10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 que cambian la decisión</a:t>
            </a:r>
            <a:endParaRPr lang="en-US" sz="2900" dirty="0"/>
          </a:p>
        </p:txBody>
      </p:sp>
      <p:sp>
        <p:nvSpPr>
          <p:cNvPr id="7" name="a10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Varios hunks · modificar/eliminar · añadir/añadir.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50292" cy="2743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a10_c1"/>
          <p:cNvSpPr/>
          <p:nvPr/>
        </p:nvSpPr>
        <p:spPr>
          <a:xfrm>
            <a:off x="777240" y="19659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Varios hunks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340864"/>
            <a:ext cx="317296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archivo, dos regiones.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por bloque.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aplicar --ours a todo.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PASS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4256" y="18288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4334256" y="1828800"/>
            <a:ext cx="50292" cy="2743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a10_c2"/>
          <p:cNvSpPr/>
          <p:nvPr/>
        </p:nvSpPr>
        <p:spPr>
          <a:xfrm>
            <a:off x="4517136" y="19659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UD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17136" y="2340864"/>
            <a:ext cx="317296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borró notas.txt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lo editó.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Conservar → git add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Eliminar → git rm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probaron ambas.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4152" y="18288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8074152" y="1828800"/>
            <a:ext cx="50292" cy="2743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a10_c3"/>
          <p:cNvSpPr/>
          <p:nvPr/>
        </p:nvSpPr>
        <p:spPr>
          <a:xfrm>
            <a:off x="8257032" y="19659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AA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57032" y="2340864"/>
            <a:ext cx="317296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Ambas ramas crearon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CHANGELOG.md distinto.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hay base común.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Unificar y git add.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828032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0D2A33">
              <a:alpha val="92000"/>
            </a:srgbClr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822960" y="4992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pregunta común: ¿qué debe existir y con qué contenido? Git muestra; la persona decide.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Prácticas 2, 3 y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10" grpId="0" build="p" animBg="1"/>
      <p:bldP spid="14" grpId="0" build="p" animBg="1"/>
      <p:bldP spid="18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PRÁCTICA 5</a:t>
            </a:r>
            <a:endParaRPr lang="en-US" sz="900" dirty="0"/>
          </a:p>
        </p:txBody>
      </p:sp>
      <p:sp>
        <p:nvSpPr>
          <p:cNvPr id="6" name="a11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Binarios: no hay marcadores</a:t>
            </a:r>
            <a:endParaRPr lang="en-US" sz="2900" dirty="0"/>
          </a:p>
        </p:txBody>
      </p:sp>
      <p:sp>
        <p:nvSpPr>
          <p:cNvPr id="7" name="a11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no puede mostrar ni fusionar el contenido. Se elige una versión completa.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2A1724"/>
          </a:solidFill>
          <a:ln w="1524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logo.bin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1810512"/>
            <a:ext cx="8183880" cy="3108960"/>
          </a:xfrm>
          <a:prstGeom prst="roundRect">
            <a:avLst>
              <a:gd name="adj" fmla="val 2059"/>
            </a:avLst>
          </a:prstGeom>
          <a:solidFill>
            <a:srgbClr val="080E1A"/>
          </a:solidFill>
          <a:ln w="11430">
            <a:solidFill>
              <a:srgbClr val="1E2B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3136392" y="1901952"/>
            <a:ext cx="8037576" cy="1645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3209544" y="1952244"/>
            <a:ext cx="64008" cy="6400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3319272" y="1952244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3429000" y="1952244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3566160" y="1920240"/>
            <a:ext cx="7543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resolución posible</a:t>
            </a:r>
            <a:endParaRPr lang="en-US" sz="750" dirty="0"/>
          </a:p>
        </p:txBody>
      </p:sp>
      <p:sp>
        <p:nvSpPr>
          <p:cNvPr id="17" name="a11_code"/>
          <p:cNvSpPr/>
          <p:nvPr/>
        </p:nvSpPr>
        <p:spPr>
          <a:xfrm>
            <a:off x="3209544" y="2157984"/>
            <a:ext cx="789127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 --short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 logo.bin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diff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warning: Cannot merge binary files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--theirs -- logo.bin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logo.bin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"merge: usa la version FEATURE"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5212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necesitas conservar las dos versiones, renombra una antes de integrar. Git no va a inventar una combinación.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58978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D2A33">
              <a:alpha val="80000"/>
            </a:srgbClr>
          </a:solidFill>
          <a:ln w="1143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594360" y="59390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PASS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 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17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PRÁCTICA 6</a:t>
            </a:r>
            <a:endParaRPr lang="en-US" sz="900" dirty="0"/>
          </a:p>
        </p:txBody>
      </p:sp>
      <p:sp>
        <p:nvSpPr>
          <p:cNvPr id="6" name="a12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Rebase: la historia se reescribe</a:t>
            </a:r>
            <a:endParaRPr lang="en-US" sz="2900" dirty="0"/>
          </a:p>
        </p:txBody>
      </p:sp>
      <p:sp>
        <p:nvSpPr>
          <p:cNvPr id="7" name="a12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 commit se reaplica sobre otra base. Si choca, se detiene.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6675120" cy="2651760"/>
          </a:xfrm>
          <a:prstGeom prst="roundRect">
            <a:avLst>
              <a:gd name="adj" fmla="val 2414"/>
            </a:avLst>
          </a:prstGeom>
          <a:solidFill>
            <a:srgbClr val="080E1A"/>
          </a:solidFill>
          <a:ln w="11430">
            <a:solidFill>
              <a:srgbClr val="1E2B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667512" y="1874520"/>
            <a:ext cx="6528816" cy="1645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740664" y="1924812"/>
            <a:ext cx="64008" cy="6400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50392" y="192481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960120" y="1924812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097280" y="189280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Secuencia</a:t>
            </a:r>
            <a:endParaRPr lang="en-US" sz="750" dirty="0"/>
          </a:p>
        </p:txBody>
      </p:sp>
      <p:sp>
        <p:nvSpPr>
          <p:cNvPr id="14" name="a12_code"/>
          <p:cNvSpPr/>
          <p:nvPr/>
        </p:nvSpPr>
        <p:spPr>
          <a:xfrm>
            <a:off x="740664" y="2130552"/>
            <a:ext cx="638251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switch feature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rebase main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(content): version.txt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show :2:version.txt   # base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show :3:version.txt   # tu commit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version.txt</a:t>
            </a:r>
            <a:endParaRPr lang="en-US" sz="92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2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GIT_EDITOR=true git rebase --continue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589520" y="1783080"/>
            <a:ext cx="3977640" cy="2651760"/>
          </a:xfrm>
          <a:prstGeom prst="roundRect">
            <a:avLst>
              <a:gd name="adj" fmla="val 2759"/>
            </a:avLst>
          </a:prstGeom>
          <a:solidFill>
            <a:srgbClr val="0D2A33"/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8181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23774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rebase, ours = base y theirs = tu commit. La etiqueta “ours” no significa “mi versión”.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4709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63040" y="5074920"/>
            <a:ext cx="365760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1463040" y="5486400"/>
            <a:ext cx="2377440" cy="0"/>
          </a:xfrm>
          <a:prstGeom prst="line">
            <a:avLst/>
          </a:prstGeom>
          <a:noFill/>
          <a:ln w="1905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1508760" y="4974336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2560320" y="4974336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3611880" y="4974336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1508760" y="5385816"/>
            <a:ext cx="201168" cy="20116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2560320" y="5385816"/>
            <a:ext cx="201168" cy="20116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7132320" y="5074920"/>
            <a:ext cx="420624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7178040" y="4974336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8001000" y="4974336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Shape 28"/>
          <p:cNvSpPr/>
          <p:nvPr/>
        </p:nvSpPr>
        <p:spPr>
          <a:xfrm>
            <a:off x="8823960" y="4974336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29"/>
          <p:cNvSpPr/>
          <p:nvPr/>
        </p:nvSpPr>
        <p:spPr>
          <a:xfrm>
            <a:off x="9646920" y="4974336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Shape 30"/>
          <p:cNvSpPr/>
          <p:nvPr/>
        </p:nvSpPr>
        <p:spPr>
          <a:xfrm>
            <a:off x="10469880" y="4974336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7178040" y="55961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lineal, sin merge commit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" y="598932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D2A33">
              <a:alpha val="80000"/>
            </a:srgbClr>
          </a:solidFill>
          <a:ln w="1143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594360" y="603046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PASS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 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14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PRÁCTICA 7</a:t>
            </a:r>
            <a:endParaRPr lang="en-US" sz="900" dirty="0"/>
          </a:p>
        </p:txBody>
      </p:sp>
      <p:sp>
        <p:nvSpPr>
          <p:cNvPr id="6" name="a13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Cherry-pick: un commit a la vez</a:t>
            </a:r>
            <a:endParaRPr lang="en-US" sz="2900" dirty="0"/>
          </a:p>
        </p:txBody>
      </p:sp>
      <p:sp>
        <p:nvSpPr>
          <p:cNvPr id="7" name="a13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Reaplicas un cambio concreto sobre otra base. El parche puede no encajar.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6492240" cy="2377440"/>
          </a:xfrm>
          <a:prstGeom prst="roundRect">
            <a:avLst>
              <a:gd name="adj" fmla="val 2692"/>
            </a:avLst>
          </a:prstGeom>
          <a:solidFill>
            <a:srgbClr val="080E1A"/>
          </a:solidFill>
          <a:ln w="11430">
            <a:solidFill>
              <a:srgbClr val="1E2B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667512" y="1874520"/>
            <a:ext cx="6345936" cy="1645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740664" y="1924812"/>
            <a:ext cx="64008" cy="6400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50392" y="192481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960120" y="1924812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097280" y="189280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Secuencia</a:t>
            </a:r>
            <a:endParaRPr lang="en-US" sz="750" dirty="0"/>
          </a:p>
        </p:txBody>
      </p:sp>
      <p:sp>
        <p:nvSpPr>
          <p:cNvPr id="14" name="a13_code"/>
          <p:cNvSpPr/>
          <p:nvPr/>
        </p:nvSpPr>
        <p:spPr>
          <a:xfrm>
            <a:off x="740664" y="2130552"/>
            <a:ext cx="619963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3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HASH=$(git rev-parse main)</a:t>
            </a:r>
            <a:endParaRPr lang="en-US" sz="93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3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switch feature</a:t>
            </a:r>
            <a:endParaRPr lang="en-US" sz="93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3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cherry-pick $HASH</a:t>
            </a:r>
            <a:endParaRPr lang="en-US" sz="93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3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(content): app.txt</a:t>
            </a:r>
            <a:endParaRPr lang="en-US" sz="930" dirty="0"/>
          </a:p>
          <a:p>
            <a:pPr marL="0" indent="0" algn="l">
              <a:lnSpc>
                <a:spcPct val="105000"/>
              </a:lnSpc>
              <a:buNone/>
            </a:pPr>
            <a:endParaRPr lang="en-US" sz="93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3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93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3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app.txt</a:t>
            </a:r>
            <a:endParaRPr lang="en-US" sz="93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3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GIT_EDITOR=true git cherry-pick --continue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452360" y="178308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111C2E"/>
          </a:solidFill>
          <a:ln w="1143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662672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está pasando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62672" y="2359152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2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copia el cambio del commit elegido y lo intenta aplicar sobre feature.</a:t>
            </a:r>
            <a:endParaRPr lang="en-US" sz="1020" dirty="0"/>
          </a:p>
          <a:p>
            <a:pPr marL="0" indent="0" algn="l">
              <a:lnSpc>
                <a:spcPct val="120000"/>
              </a:lnSpc>
              <a:buNone/>
            </a:pPr>
            <a:endParaRPr lang="en-US" sz="102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2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crea un merge commit: reescribe un parche. Si la base cambió, hay conflicto.</a:t>
            </a:r>
            <a:endParaRPr lang="en-US" sz="1020" dirty="0"/>
          </a:p>
          <a:p>
            <a:pPr marL="0" indent="0" algn="l">
              <a:lnSpc>
                <a:spcPct val="120000"/>
              </a:lnSpc>
              <a:buNone/>
            </a:pPr>
            <a:endParaRPr lang="en-US" sz="102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2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resuelve, se marca y se continúa.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594360" y="4462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conflicto es local a ese parche, no a toda la rama.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493776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2A2312">
              <a:alpha val="92000"/>
            </a:srgbClr>
          </a:solidFill>
          <a:ln w="1143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822960" y="509320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Cuidado: si el commit depende de otros cambios, el parche puede no compilar.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58521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D2A33">
              <a:alpha val="80000"/>
            </a:srgbClr>
          </a:solidFill>
          <a:ln w="1143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594360" y="58933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PASS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 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14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· PRÁCTICA 8</a:t>
            </a:r>
            <a:endParaRPr lang="en-US" sz="900" dirty="0"/>
          </a:p>
        </p:txBody>
      </p:sp>
      <p:sp>
        <p:nvSpPr>
          <p:cNvPr id="6" name="a14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Stash: recuperar sin perder</a:t>
            </a:r>
            <a:endParaRPr lang="en-US" sz="2900" dirty="0"/>
          </a:p>
        </p:txBody>
      </p:sp>
      <p:sp>
        <p:nvSpPr>
          <p:cNvPr id="7" name="a14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WIP choca con un commit nuevo. El stash sigue ahí hasta que lo resuelvas.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11C2E"/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704088" y="1956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304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editas app.txt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87752" y="2350008"/>
            <a:ext cx="22860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2862072" y="18288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11C2E"/>
          </a:solidFill>
          <a:ln w="1143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2971800" y="1956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2304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guardas el trabajo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55464" y="2350008"/>
            <a:ext cx="22860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5129784" y="18288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11C2E"/>
          </a:solidFill>
          <a:ln w="1143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5239512" y="1956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39512" y="2304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cambia la línea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23176" y="2350008"/>
            <a:ext cx="22860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7397496" y="18288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11C2E"/>
          </a:solidFill>
          <a:ln w="1143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7507224" y="1956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07224" y="2304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conflicto al aplicar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390888" y="2350008"/>
            <a:ext cx="22860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9665208" y="18288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11C2E"/>
          </a:solidFill>
          <a:ln w="1143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9774936" y="1956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74936" y="2304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después de resolver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3429000"/>
            <a:ext cx="6675120" cy="2103120"/>
          </a:xfrm>
          <a:prstGeom prst="roundRect">
            <a:avLst>
              <a:gd name="adj" fmla="val 3043"/>
            </a:avLst>
          </a:prstGeom>
          <a:solidFill>
            <a:srgbClr val="080E1A"/>
          </a:solidFill>
          <a:ln w="11430">
            <a:solidFill>
              <a:srgbClr val="1E2B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667512" y="3520440"/>
            <a:ext cx="6528816" cy="1645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740664" y="3570732"/>
            <a:ext cx="64008" cy="6400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Shape 28"/>
          <p:cNvSpPr/>
          <p:nvPr/>
        </p:nvSpPr>
        <p:spPr>
          <a:xfrm>
            <a:off x="850392" y="357073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29"/>
          <p:cNvSpPr/>
          <p:nvPr/>
        </p:nvSpPr>
        <p:spPr>
          <a:xfrm>
            <a:off x="960120" y="3570732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1097280" y="35387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secuencia segura</a:t>
            </a:r>
            <a:endParaRPr lang="en-US" sz="750" dirty="0"/>
          </a:p>
        </p:txBody>
      </p:sp>
      <p:sp>
        <p:nvSpPr>
          <p:cNvPr id="33" name="a14_code"/>
          <p:cNvSpPr/>
          <p:nvPr/>
        </p:nvSpPr>
        <p:spPr>
          <a:xfrm>
            <a:off x="740664" y="3776472"/>
            <a:ext cx="63825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4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stash pop</a:t>
            </a:r>
            <a:endParaRPr lang="en-US" sz="94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4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(content): app.txt</a:t>
            </a:r>
            <a:endParaRPr lang="en-US" sz="94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4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 upstream / Stashed changes</a:t>
            </a:r>
            <a:endParaRPr lang="en-US" sz="940" dirty="0"/>
          </a:p>
          <a:p>
            <a:pPr marL="0" indent="0" algn="l">
              <a:lnSpc>
                <a:spcPct val="105000"/>
              </a:lnSpc>
              <a:buNone/>
            </a:pPr>
            <a:endParaRPr lang="en-US" sz="94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4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app.txt</a:t>
            </a:r>
            <a:endParaRPr lang="en-US" sz="94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4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stash drop</a:t>
            </a:r>
            <a:endParaRPr lang="en-US" sz="94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4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"feat: recupera el WIP"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7589520" y="342900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2A2312"/>
          </a:solidFill>
          <a:ln w="1143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7818120" y="3611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Recuerda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18120" y="3977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pop conflictúa, el stash NO se elimina. Primero resuelves, luego haces drop y commit.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4360" y="59436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D2A33">
              <a:alpha val="80000"/>
            </a:srgbClr>
          </a:solidFill>
          <a:ln w="1143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594360" y="59847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PASS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0" name="Text 38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 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3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· PRÁCTICA 9</a:t>
            </a:r>
            <a:endParaRPr lang="en-US" sz="900" dirty="0"/>
          </a:p>
        </p:txBody>
      </p:sp>
      <p:sp>
        <p:nvSpPr>
          <p:cNvPr id="6" name="a15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Inspección forense</a:t>
            </a:r>
            <a:endParaRPr lang="en-US" sz="2900" dirty="0"/>
          </a:p>
        </p:txBody>
      </p:sp>
      <p:sp>
        <p:nvSpPr>
          <p:cNvPr id="7" name="a15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editar, reconstruye las tres versiones.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111C2E"/>
          </a:solidFill>
          <a:ln w="1143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:1: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había antes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26080" y="182880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111C2E"/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30632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:2: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6324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6324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 rama actual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57800" y="182880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111C2E"/>
          </a:solidFill>
          <a:ln w="1143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53949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:3: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9496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otra rama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35240" y="1810512"/>
            <a:ext cx="3931920" cy="1627632"/>
          </a:xfrm>
          <a:prstGeom prst="roundRect">
            <a:avLst>
              <a:gd name="adj" fmla="val 3933"/>
            </a:avLst>
          </a:prstGeom>
          <a:solidFill>
            <a:srgbClr val="080E1A"/>
          </a:solidFill>
          <a:ln w="11430">
            <a:solidFill>
              <a:srgbClr val="1E2B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708392" y="1901952"/>
            <a:ext cx="3785616" cy="1645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7781544" y="1952244"/>
            <a:ext cx="64008" cy="6400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7891272" y="1952244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8001000" y="1952244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8138160" y="1920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Reconstruir</a:t>
            </a:r>
            <a:endParaRPr lang="en-US" sz="750" dirty="0"/>
          </a:p>
        </p:txBody>
      </p:sp>
      <p:sp>
        <p:nvSpPr>
          <p:cNvPr id="26" name="a15_code"/>
          <p:cNvSpPr/>
          <p:nvPr/>
        </p:nvSpPr>
        <p:spPr>
          <a:xfrm>
            <a:off x="7781544" y="2157984"/>
            <a:ext cx="3639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show :1:config.txt</a:t>
            </a:r>
            <a:endParaRPr lang="en-US" sz="8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show :2:config.txt</a:t>
            </a:r>
            <a:endParaRPr lang="en-US" sz="8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show :3:config.txt</a:t>
            </a:r>
            <a:endParaRPr lang="en-US" sz="8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--merge --oneline</a:t>
            </a:r>
            <a:endParaRPr lang="en-US" sz="8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diff --base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3611880"/>
            <a:ext cx="10927080" cy="1828800"/>
          </a:xfrm>
          <a:prstGeom prst="roundRect">
            <a:avLst>
              <a:gd name="adj" fmla="val 4000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82296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Mergetool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331720" y="3767328"/>
            <a:ext cx="8915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herramienta recibe BASE, LOCAL, REMOTE y MERGED. Puede ser visual (VS Code, meld, Beyond Compare) o un script propio. Git marca el archivo cuando la herramienta termina con éxito.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48006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base explica el “por qué” del conflicto. Sin ella, solo ves dos versiones y adivinas.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58521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D2A33">
              <a:alpha val="80000"/>
            </a:srgbClr>
          </a:solidFill>
          <a:ln w="1143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594360" y="58933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PASS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 9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26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· PRÁCTICA 10</a:t>
            </a:r>
            <a:endParaRPr lang="en-US" sz="900" dirty="0"/>
          </a:p>
        </p:txBody>
      </p:sp>
      <p:sp>
        <p:nvSpPr>
          <p:cNvPr id="6" name="a16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Estrategias automáticas</a:t>
            </a:r>
            <a:endParaRPr lang="en-US" sz="2900" dirty="0"/>
          </a:p>
        </p:txBody>
      </p:sp>
      <p:sp>
        <p:nvSpPr>
          <p:cNvPr id="7" name="a16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Atajos que reducen trabajo... y pueden ocultar decisiones.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5440680" cy="1645920"/>
          </a:xfrm>
          <a:prstGeom prst="roundRect">
            <a:avLst>
              <a:gd name="adj" fmla="val 3889"/>
            </a:avLst>
          </a:prstGeom>
          <a:solidFill>
            <a:srgbClr val="111C2E"/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777240" y="1947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 ours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134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Fusiona, pero en los hunks conflictivos conserva ours. Los cambios no conflictivos de la otra rama sí entran.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30723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Riesgo: pierdes hunks de la otra rama sin aviso.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63640" y="1810512"/>
            <a:ext cx="5440680" cy="1645920"/>
          </a:xfrm>
          <a:prstGeom prst="roundRect">
            <a:avLst>
              <a:gd name="adj" fmla="val 3889"/>
            </a:avLst>
          </a:prstGeom>
          <a:solidFill>
            <a:srgbClr val="111C2E"/>
          </a:solidFill>
          <a:ln w="1143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46520" y="1947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 ours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3134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 un merge commit cuyo árbol es idéntico al de tu rama. Ignora todo el árbol de la otra.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46520" y="30723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Riesgo: descartas la otra rama por completo.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3730752"/>
            <a:ext cx="5440680" cy="1645920"/>
          </a:xfrm>
          <a:prstGeom prst="roundRect">
            <a:avLst>
              <a:gd name="adj" fmla="val 3889"/>
            </a:avLst>
          </a:prstGeom>
          <a:solidFill>
            <a:srgbClr val="111C2E"/>
          </a:solidFill>
          <a:ln w="1143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777240" y="3867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merge=union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2336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Concatena las líneas de ambos lados. Útil en listas; peligroso en JSON o código.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49926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Riesgo: archivo sintácticamente inválido.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63640" y="3730752"/>
            <a:ext cx="5440680" cy="1645920"/>
          </a:xfrm>
          <a:prstGeom prst="roundRect">
            <a:avLst>
              <a:gd name="adj" fmla="val 3889"/>
            </a:avLst>
          </a:prstGeom>
          <a:solidFill>
            <a:srgbClr val="111C2E"/>
          </a:solidFill>
          <a:ln w="1143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6446520" y="3867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merge=ours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2336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driver que deja el archivo de ours. La otra versión se ignora sin conflicto.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49926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Riesgo: cambios invisibles.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58521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D2A33">
              <a:alpha val="80000"/>
            </a:srgbClr>
          </a:solidFill>
          <a:ln w="1143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594360" y="58933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PASS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011680" y="589788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probaron las cuatro variantes y se verificó qué se conservó y qué se descartó.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 10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· PRÁCTICA 10B Y 10C</a:t>
            </a:r>
            <a:endParaRPr lang="en-US" sz="900" dirty="0"/>
          </a:p>
        </p:txBody>
      </p:sp>
      <p:sp>
        <p:nvSpPr>
          <p:cNvPr id="6" name="a17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rerere y merge drivers</a:t>
            </a:r>
            <a:endParaRPr lang="en-US" sz="2900" dirty="0"/>
          </a:p>
        </p:txBody>
      </p:sp>
      <p:sp>
        <p:nvSpPr>
          <p:cNvPr id="7" name="a17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Recordar una resolución o delegar la fusión a una regla.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594360" y="1810512"/>
            <a:ext cx="50292" cy="35661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a17_rerere"/>
          <p:cNvSpPr/>
          <p:nvPr/>
        </p:nvSpPr>
        <p:spPr>
          <a:xfrm>
            <a:off x="777240" y="1947672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rerere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322576"/>
            <a:ext cx="509320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Recorded Resolution.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rerere.enabled true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conflicto y resolución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Git recuerda el conflicto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repites el merge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aplica la solución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funciona con conflictos idénticos.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810512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111C2E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6263640" y="1810512"/>
            <a:ext cx="50292" cy="35661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a17_drivers"/>
          <p:cNvSpPr/>
          <p:nvPr/>
        </p:nvSpPr>
        <p:spPr>
          <a:xfrm>
            <a:off x="6446520" y="1947672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drivers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46520" y="2322576"/>
            <a:ext cx="509320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.gitattributes decide por ruta.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deps.lock merge=union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*.ours    merge=ours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union concatena; ours conserva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archivo de nuestra rama.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Potentes y silenciosos: documentar.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5486400"/>
            <a:ext cx="11109960" cy="658368"/>
          </a:xfrm>
          <a:prstGeom prst="roundRect">
            <a:avLst>
              <a:gd name="adj" fmla="val 9722"/>
            </a:avLst>
          </a:prstGeom>
          <a:solidFill>
            <a:srgbClr val="080E1A"/>
          </a:solidFill>
          <a:ln w="11430">
            <a:solidFill>
              <a:srgbClr val="1E2B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667512" y="5577840"/>
            <a:ext cx="10963656" cy="1645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740664" y="5628132"/>
            <a:ext cx="64008" cy="6400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850392" y="562813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960120" y="5628132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1097280" y="5596128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mínima</a:t>
            </a:r>
            <a:endParaRPr lang="en-US" sz="750" dirty="0"/>
          </a:p>
        </p:txBody>
      </p:sp>
      <p:sp>
        <p:nvSpPr>
          <p:cNvPr id="22" name="a17_code"/>
          <p:cNvSpPr/>
          <p:nvPr/>
        </p:nvSpPr>
        <p:spPr>
          <a:xfrm>
            <a:off x="740664" y="5833872"/>
            <a:ext cx="10817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DBE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rerere.enabled true   ·   git config merge.ours.driver true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 10B y 10C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10" grpId="0" build="p" animBg="1"/>
      <p:bldP spid="14" grpId="0" build="p" animBg="1"/>
      <p:bldP spid="22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· MAPA CONCEPTUAL</a:t>
            </a:r>
            <a:endParaRPr lang="en-US" sz="900" dirty="0"/>
          </a:p>
        </p:txBody>
      </p:sp>
      <p:sp>
        <p:nvSpPr>
          <p:cNvPr id="6" name="a18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el sistema en una imagen</a:t>
            </a:r>
            <a:endParaRPr lang="en-US" sz="2900" dirty="0"/>
          </a:p>
        </p:txBody>
      </p:sp>
      <p:sp>
        <p:nvSpPr>
          <p:cNvPr id="7" name="a18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origen del conflicto a la decisión y la verificación.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11201400" cy="4663440"/>
          </a:xfrm>
          <a:prstGeom prst="roundRect">
            <a:avLst>
              <a:gd name="adj" fmla="val 1176"/>
            </a:avLst>
          </a:prstGeom>
          <a:solidFill>
            <a:srgbClr val="0A1220"/>
          </a:solidFill>
          <a:ln w="1143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a18_map" descr="C:\Users\gambo\Documents\Git-Conflictos\build\mapa-conceptual-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46808"/>
            <a:ext cx="10881360" cy="3004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59436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Conflicto → diagnóstico → resolución → estrategia → validación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conceptual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· EVIDENCIA</a:t>
            </a:r>
            <a:endParaRPr lang="en-US" sz="900" dirty="0"/>
          </a:p>
        </p:txBody>
      </p:sp>
      <p:sp>
        <p:nvSpPr>
          <p:cNvPr id="6" name="a19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10/10 verificados</a:t>
            </a:r>
            <a:endParaRPr lang="en-US" sz="2900" dirty="0"/>
          </a:p>
        </p:txBody>
      </p:sp>
      <p:sp>
        <p:nvSpPr>
          <p:cNvPr id="7" name="a19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práctica no termina cuando Git deja de quejarse: termina cuando las pruebas pasan.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111C2E"/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777240" y="19933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95528" y="2560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ejercicios ejecutados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0520" y="18288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111C2E"/>
          </a:solidFill>
          <a:ln w="1143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4343400" y="19933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361688" y="2560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comprobaciones PASS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26680" y="18288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111C2E"/>
          </a:solidFill>
          <a:ln w="1143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7909560" y="19933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927848" y="2560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361188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0D2A33"/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 público</a:t>
            </a:r>
            <a:endParaRPr lang="en-US" sz="1300" dirty="0"/>
          </a:p>
        </p:txBody>
      </p:sp>
      <p:sp>
        <p:nvSpPr>
          <p:cNvPr id="19" name="Text 17">
            <a:hlinkClick r:id="rId3"/>
          </p:cNvPr>
          <p:cNvSpPr/>
          <p:nvPr/>
        </p:nvSpPr>
        <p:spPr>
          <a:xfrm>
            <a:off x="822960" y="4160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u="sng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github.com/75749748-blip/conflictos-git-ejercicios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· PDF · PPT · 10 scripts · 10 logs · 23 capturas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49834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log termina en RESULTADO: N PASS, 0 FAIL. Cada captura sale de ese log.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Evidencia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-1463040"/>
            <a:ext cx="3474720" cy="3474720"/>
          </a:xfrm>
          <a:prstGeom prst="ellipse">
            <a:avLst/>
          </a:prstGeom>
          <a:solidFill>
            <a:srgbClr val="0F2A33">
              <a:alpha val="38000"/>
            </a:srgbClr>
          </a:solidFill>
          <a:ln w="12700">
            <a:solidFill>
              <a:srgbClr val="0F2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280160" y="5303520"/>
            <a:ext cx="2926080" cy="2926080"/>
          </a:xfrm>
          <a:prstGeom prst="ellipse">
            <a:avLst/>
          </a:prstGeom>
          <a:solidFill>
            <a:srgbClr val="2A1724">
              <a:alpha val="28000"/>
            </a:srgbClr>
          </a:solidFill>
          <a:ln w="12700">
            <a:solidFill>
              <a:srgbClr val="2A17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2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· CIERRE</a:t>
            </a:r>
            <a:endParaRPr lang="en-US" sz="900" dirty="0"/>
          </a:p>
        </p:txBody>
      </p:sp>
      <p:sp>
        <p:nvSpPr>
          <p:cNvPr id="6" name="a20_title"/>
          <p:cNvSpPr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para salir del conflicto</a:t>
            </a:r>
            <a:endParaRPr lang="en-US" sz="2900" dirty="0"/>
          </a:p>
        </p:txBody>
      </p:sp>
      <p:sp>
        <p:nvSpPr>
          <p:cNvPr id="7" name="a20_lead"/>
          <p:cNvSpPr/>
          <p:nvPr/>
        </p:nvSpPr>
        <p:spPr>
          <a:xfrm>
            <a:off x="612648" y="1444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Entender, decidir, marcar y verificar.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83664"/>
            <a:ext cx="237744" cy="237744"/>
          </a:xfrm>
          <a:prstGeom prst="ellipse">
            <a:avLst/>
          </a:prstGeom>
          <a:solidFill>
            <a:srgbClr val="0D2A33"/>
          </a:solidFill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594360" y="189738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8408" y="18379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¿Sé qué cambió cada lado y por qué?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883664"/>
            <a:ext cx="237744" cy="237744"/>
          </a:xfrm>
          <a:prstGeom prst="ellipse">
            <a:avLst/>
          </a:prstGeom>
          <a:solidFill>
            <a:srgbClr val="0D2A33"/>
          </a:solidFill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263640" y="189738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47688" y="18379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¿Leí la base y las tres etapas?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596896"/>
            <a:ext cx="237744" cy="237744"/>
          </a:xfrm>
          <a:prstGeom prst="ellipse">
            <a:avLst/>
          </a:prstGeom>
          <a:solidFill>
            <a:srgbClr val="0D2A33"/>
          </a:solidFill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594360" y="26106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" y="25511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¿Resolví por bloque, no por archivo?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596896"/>
            <a:ext cx="237744" cy="237744"/>
          </a:xfrm>
          <a:prstGeom prst="ellipse">
            <a:avLst/>
          </a:prstGeom>
          <a:solidFill>
            <a:srgbClr val="0D2A33"/>
          </a:solidFill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263640" y="26106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47688" y="25511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¿Quité todos los marcadores?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310128"/>
            <a:ext cx="237744" cy="237744"/>
          </a:xfrm>
          <a:prstGeom prst="ellipse">
            <a:avLst/>
          </a:prstGeom>
          <a:solidFill>
            <a:srgbClr val="0D2A33"/>
          </a:solidFill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594360" y="332384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8408" y="32644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¿Ejecuté git diff --check?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310128"/>
            <a:ext cx="237744" cy="237744"/>
          </a:xfrm>
          <a:prstGeom prst="ellipse">
            <a:avLst/>
          </a:prstGeom>
          <a:solidFill>
            <a:srgbClr val="0D2A33"/>
          </a:solidFill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6263640" y="332384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47688" y="32644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¿El resultado pasa las pruebas?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4160520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0D2A33">
              <a:alpha val="92000"/>
            </a:srgbClr>
          </a:solidFill>
          <a:ln w="1143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868680" y="43708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96112" y="4864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97480" y="43708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2724912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69080" y="437083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096512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44348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 y evidencia:</a:t>
            </a:r>
            <a:endParaRPr lang="en-US" sz="900" dirty="0"/>
          </a:p>
        </p:txBody>
      </p:sp>
      <p:sp>
        <p:nvSpPr>
          <p:cNvPr id="34" name="Text 32">
            <a:hlinkClick r:id="rId3"/>
          </p:cNvPr>
          <p:cNvSpPr/>
          <p:nvPr/>
        </p:nvSpPr>
        <p:spPr>
          <a:xfrm>
            <a:off x="55778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u="sng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github.com/75749748-blip/conflictos-git-ejercicios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5074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· PDF · PPT · 10 scripts · 10 logs · 23 capturas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5989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433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502920" y="6556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109960" y="6528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2892</Words>
  <Application>Microsoft Office PowerPoint</Application>
  <PresentationFormat>Panorámica</PresentationFormat>
  <Paragraphs>489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Consolas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Prácticas de Git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Conflictos de código en Git</dc:title>
  <dc:subject>Conflictos de código en Git</dc:subject>
  <dc:creator>Ivan</dc:creator>
  <cp:lastModifiedBy>Ivan Gamboa Ramos</cp:lastModifiedBy>
  <cp:revision>2</cp:revision>
  <dcterms:created xsi:type="dcterms:W3CDTF">2026-10-27T01:39:31Z</dcterms:created>
  <dcterms:modified xsi:type="dcterms:W3CDTF">2026-10-27T01:39:43Z</dcterms:modified>
</cp:coreProperties>
</file>